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61121" autoAdjust="0"/>
  </p:normalViewPr>
  <p:slideViewPr>
    <p:cSldViewPr snapToGrid="0" snapToObjects="1">
      <p:cViewPr>
        <p:scale>
          <a:sx n="58" d="100"/>
          <a:sy n="58" d="100"/>
        </p:scale>
        <p:origin x="912"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215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Contexte</a:t>
            </a:r>
            <a:r>
              <a:rPr lang="en-US" dirty="0"/>
              <a:t>: </a:t>
            </a:r>
            <a:r>
              <a:rPr lang="en-US" dirty="0" err="1"/>
              <a:t>l’entreprise</a:t>
            </a:r>
            <a:r>
              <a:rPr lang="en-US" dirty="0"/>
              <a:t> vend des produits software à des clients. Les données couvrent 4 années, avec des transactions par client, produit et date. Comme certains montants se répètent sur plusieurs mois pour les mêmes clients, l’hypothèse la plus réaliste est un modèle proche de l’abonnement ou de licences récurrentes. Les revenus négatifs ne sont pas forcément des erreurs : ils peuvent correspondre à des annulations, refunds, avoirs ou corrections de facturation.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D’abord</a:t>
            </a:r>
            <a:r>
              <a:rPr lang="en-US" dirty="0"/>
              <a:t> </a:t>
            </a:r>
            <a:r>
              <a:rPr lang="en-US" dirty="0" err="1"/>
              <a:t>exploré</a:t>
            </a:r>
            <a:r>
              <a:rPr lang="en-US" dirty="0"/>
              <a:t> le fichier Excel brut pour </a:t>
            </a:r>
            <a:r>
              <a:rPr lang="en-US" dirty="0" err="1"/>
              <a:t>comprendre</a:t>
            </a:r>
            <a:r>
              <a:rPr lang="en-US" dirty="0"/>
              <a:t> le </a:t>
            </a:r>
            <a:r>
              <a:rPr lang="en-US" dirty="0" err="1"/>
              <a:t>conexte</a:t>
            </a:r>
            <a:r>
              <a:rPr lang="en-US" dirty="0"/>
              <a:t> du data. Ensuite, Python pour faire les basic checks : missing values, IDs clients, doublons, revenus négatifs, dates, produits et activités. Après nettoyage, j’ai fait une EDA avec Python pour comprendre les tendances. Puis j’ai construit un dashboard Power BI pour rendre l’analyse lisible, avant de résumer les messages clés dans </a:t>
            </a:r>
            <a:r>
              <a:rPr lang="en-US" dirty="0" err="1"/>
              <a:t>ce</a:t>
            </a:r>
            <a:r>
              <a:rPr lang="en-US" dirty="0"/>
              <a:t> ppt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valeurs vides dans les revenus annuels ont été remplacées par 0, car elles peuvent signifier qu’un abonnement n’a pas généré de revenu sur l’année, ou qu’aucune facturation n’a été enregistrée. Le client 010115 apparaissait en double : une ligne contenait du revenu réel et l’autre seulement des zéros, donc la ligne à 0 a été supprimée. Certains IDs avaient moins de 6 chiffres, probablement parce qu’Excel a supprimé les zéros au début ; j’ai donc rajouté les zéros devant. Les IDs avec des lettres ont été gardés, car ils peuvent être des anciens codes clients ou des identifiants venant d’un autre système. Les revenus négatifs réels ont été gardés car ils peuvent correspondre à des annulations, refunds ou corrections.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graphique montre que le revenu reste proche de 14,2M entre 2018 et 2020, puis augmente à 16,1M en 2021. Dans un business d’abonnement, cela peut vouloir dire que l’entreprise garde une base de clients récurrents et réussit ensuite à accélérer : plus de nouveaux abonnements, plus </a:t>
            </a:r>
            <a:r>
              <a:rPr lang="en-US" dirty="0" err="1"/>
              <a:t>une</a:t>
            </a:r>
            <a:r>
              <a:rPr lang="en-US" dirty="0"/>
              <a:t> meilleure vente des produits existants.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P1 est le produit principal : il représente environ 57% du revenu total. Cela veut dire que c’est le produit qui finance le plus le business aujourd’hui. P3 est plus petit, mais il progresse fortement : sa part passe d’environ 1,9% en 2018 à 18,3% en 2021. En </a:t>
            </a:r>
            <a:r>
              <a:rPr lang="en-US" dirty="0" err="1"/>
              <a:t>gos</a:t>
            </a:r>
            <a:r>
              <a:rPr lang="en-US" dirty="0"/>
              <a:t> P1 est la base actuelle, P3 pourrait être le relais de croissance futur.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L’Activité 1 génère le plus gros revenu total parce qu’elle a beaucoup de clients. L’Activité 2 a beaucoup moins de clients, mais le revenu moyen par client est beaucoup plus élevé. C’est donc un segment à forte valeur. </a:t>
            </a:r>
            <a:r>
              <a:rPr lang="en-US" dirty="0" err="1"/>
              <a:t>Exemple</a:t>
            </a:r>
            <a:r>
              <a:rPr lang="en-US" dirty="0"/>
              <a:t>: un petit nombre de clients peut être plus rentable qu’une grande base si chaque client paie beaucoup plus.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 messages ressortent. D’abord, beaucoup de clients sont actifs sur plusieurs mois, ce qui renforce l’idée d’un modèle d’abonnement. 1 503 clients sont présents sur les 48 mois, donc </a:t>
            </a:r>
            <a:r>
              <a:rPr lang="en-US" dirty="0" err="1"/>
              <a:t>ils</a:t>
            </a:r>
            <a:r>
              <a:rPr lang="en-US" dirty="0"/>
              <a:t> </a:t>
            </a:r>
            <a:r>
              <a:rPr lang="en-US" dirty="0" err="1"/>
              <a:t>ont</a:t>
            </a:r>
            <a:r>
              <a:rPr lang="en-US" dirty="0"/>
              <a:t> l’air très fidèles. Ensuite, le revenu est concentré : les 10 plus gros clients pèsent environ 26,7% du revenu. Cela veut dire que perdre un gros client pourrait avoir un impact visible sur le business.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 b="1" dirty="0"/>
              <a:t>Fidéliser les clients récurrents</a:t>
            </a:r>
            <a:r>
              <a:rPr lang="" dirty="0"/>
              <a:t> : proposer des remises, avantages ou contrats long terme aux clients les plus fidèles afin de sécuriser le revenu récurrent. </a:t>
            </a:r>
            <a:r>
              <a:rPr lang="" b="1" dirty="0"/>
              <a:t>Investiguer les revenus négatifs</a:t>
            </a:r>
            <a:r>
              <a:rPr lang="" dirty="0"/>
              <a:t> : analyser les transactions négatives, car elles peuvent correspondre à des remboursements, annulations ou avoirs ; envoyer des surveys aux clients concernés pourrait aider à comprendre les causes. </a:t>
            </a:r>
          </a:p>
          <a:p>
            <a:r>
              <a:rPr lang="" b="1" dirty="0"/>
              <a:t>Protéger P1</a:t>
            </a:r>
            <a:r>
              <a:rPr lang="" dirty="0"/>
              <a:t> : P1 reste le produit principal en termes de revenu, donc il faut continuer à le maintenir, l’améliorer et éviter la perte de clients sur ce produit. </a:t>
            </a:r>
            <a:r>
              <a:rPr lang="" b="1" dirty="0"/>
              <a:t>Accélérer P3</a:t>
            </a:r>
            <a:r>
              <a:rPr lang="" dirty="0"/>
              <a:t> : P3 montre une forte dynamique de croissance / adoption, donc il peut devenir un levier de croissance important si l’entreprise améliore son offre, son pricing ou sa stratégie commerciale. </a:t>
            </a:r>
          </a:p>
          <a:p>
            <a:r>
              <a:rPr lang="" b="1" dirty="0"/>
              <a:t>Cibler davantage l’Activité 2</a:t>
            </a:r>
            <a:r>
              <a:rPr lang="" dirty="0"/>
              <a:t> : même si elle compte moins de clients, elle génère un revenu moyen par client plus élevé ; il serait donc intéressant de cibler plus de clients similaires. </a:t>
            </a:r>
          </a:p>
          <a:p>
            <a:r>
              <a:rPr lang="" b="1" dirty="0"/>
              <a:t>Mieux comprendre les anomalies de données</a:t>
            </a:r>
            <a:r>
              <a:rPr lang="" dirty="0"/>
              <a:t> : clarifier les IDs clients en format texte, la signification exacte des activités, et la devise utilisée pour les revenus. </a:t>
            </a:r>
          </a:p>
          <a:p>
            <a:r>
              <a:rPr lang="" b="1" dirty="0"/>
              <a:t>Améliorer le suivi business</a:t>
            </a:r>
            <a:r>
              <a:rPr lang="" dirty="0"/>
              <a:t> : ajouter des informations comme date de souscription, type de contrat, statut client, annulation, remboursement ou durée d’abonnement pour mieux analyser la rétention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GB"/>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497879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7173215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860972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extLst>
      <p:ext uri="{BB962C8B-B14F-4D97-AF65-F5344CB8AC3E}">
        <p14:creationId xmlns:p14="http://schemas.microsoft.com/office/powerpoint/2010/main" val="215123575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632380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4048964"/>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7367129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GB"/>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extLst>
      <p:ext uri="{BB962C8B-B14F-4D97-AF65-F5344CB8AC3E}">
        <p14:creationId xmlns:p14="http://schemas.microsoft.com/office/powerpoint/2010/main" val="249891017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9825588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580031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80766158"/>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GB"/>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1700254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536414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GB"/>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7332291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extLst>
      <p:ext uri="{BB962C8B-B14F-4D97-AF65-F5344CB8AC3E}">
        <p14:creationId xmlns:p14="http://schemas.microsoft.com/office/powerpoint/2010/main" val="119281350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GB"/>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7/8/2026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49737243"/>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654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GB"/>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7/8/2026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1843982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7.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7.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85800" y="777240"/>
            <a:ext cx="7680960" cy="658368"/>
          </a:xfrm>
          <a:prstGeom prst="rect">
            <a:avLst/>
          </a:prstGeom>
          <a:noFill/>
          <a:ln/>
        </p:spPr>
        <p:txBody>
          <a:bodyPr wrap="square" lIns="0" tIns="0" rIns="0" bIns="0" rtlCol="0" anchor="ctr"/>
          <a:lstStyle/>
          <a:p>
            <a:pPr marL="0" indent="0">
              <a:buNone/>
            </a:pPr>
            <a:r>
              <a:rPr lang="en-US" sz="4000" b="1" dirty="0">
                <a:solidFill>
                  <a:srgbClr val="111827"/>
                </a:solidFill>
              </a:rPr>
              <a:t>Cas pratique</a:t>
            </a:r>
            <a:endParaRPr lang="en-US" sz="4000" dirty="0"/>
          </a:p>
        </p:txBody>
      </p:sp>
      <p:sp>
        <p:nvSpPr>
          <p:cNvPr id="3" name="Text 1"/>
          <p:cNvSpPr/>
          <p:nvPr/>
        </p:nvSpPr>
        <p:spPr>
          <a:xfrm>
            <a:off x="713232" y="1508760"/>
            <a:ext cx="8046720" cy="347472"/>
          </a:xfrm>
          <a:prstGeom prst="rect">
            <a:avLst/>
          </a:prstGeom>
          <a:noFill/>
          <a:ln/>
        </p:spPr>
        <p:txBody>
          <a:bodyPr wrap="square" lIns="0" tIns="0" rIns="0" bIns="0" rtlCol="0" anchor="ctr"/>
          <a:lstStyle/>
          <a:p>
            <a:pPr marL="0" indent="0">
              <a:buNone/>
            </a:pPr>
            <a:r>
              <a:rPr lang="en-US" sz="1700" dirty="0">
                <a:solidFill>
                  <a:srgbClr val="6B7280"/>
                </a:solidFill>
              </a:rPr>
              <a:t>Comprendre le revenu d’une entreprise software</a:t>
            </a:r>
            <a:endParaRPr lang="en-US" sz="1700" dirty="0"/>
          </a:p>
        </p:txBody>
      </p:sp>
      <p:sp>
        <p:nvSpPr>
          <p:cNvPr id="4" name="Text 2"/>
          <p:cNvSpPr/>
          <p:nvPr/>
        </p:nvSpPr>
        <p:spPr>
          <a:xfrm>
            <a:off x="777240" y="2331720"/>
            <a:ext cx="6675120" cy="2103120"/>
          </a:xfrm>
          <a:prstGeom prst="rect">
            <a:avLst/>
          </a:prstGeom>
          <a:noFill/>
          <a:ln/>
        </p:spPr>
        <p:txBody>
          <a:bodyPr wrap="square" lIns="508" tIns="508" rIns="508" bIns="508" rtlCol="0" anchor="ctr">
            <a:normAutofit/>
          </a:bodyPr>
          <a:lstStyle/>
          <a:p>
            <a:pPr marL="0" indent="0">
              <a:buNone/>
            </a:pPr>
            <a:r>
              <a:rPr lang="en-US" sz="1800" dirty="0">
                <a:solidFill>
                  <a:srgbClr val="111827"/>
                </a:solidFill>
              </a:rPr>
              <a:t>• Entreprise software avec 3 produits : P1, P2, P3</a:t>
            </a:r>
            <a:endParaRPr lang="en-US" sz="1800" dirty="0"/>
          </a:p>
          <a:p>
            <a:pPr marL="0" indent="0">
              <a:buNone/>
            </a:pPr>
            <a:r>
              <a:rPr lang="en-US" sz="1800" dirty="0">
                <a:solidFill>
                  <a:srgbClr val="111827"/>
                </a:solidFill>
              </a:rPr>
              <a:t>• 4 ans de transactions clients : 2018 à 2021</a:t>
            </a:r>
            <a:endParaRPr lang="en-US" sz="1800" dirty="0"/>
          </a:p>
          <a:p>
            <a:pPr marL="0" indent="0">
              <a:buNone/>
            </a:pPr>
            <a:r>
              <a:rPr lang="en-US" sz="1800" dirty="0">
                <a:solidFill>
                  <a:srgbClr val="111827"/>
                </a:solidFill>
              </a:rPr>
              <a:t>• Chaque client appartient à un secteur d’activité</a:t>
            </a:r>
            <a:endParaRPr lang="en-US" sz="1800" dirty="0"/>
          </a:p>
          <a:p>
            <a:pPr marL="0" indent="0">
              <a:buNone/>
            </a:pPr>
            <a:r>
              <a:rPr lang="en-US" sz="1800" dirty="0">
                <a:solidFill>
                  <a:srgbClr val="111827"/>
                </a:solidFill>
              </a:rPr>
              <a:t>• </a:t>
            </a:r>
            <a:r>
              <a:rPr lang="en-US" sz="1800" dirty="0" err="1">
                <a:solidFill>
                  <a:srgbClr val="111827"/>
                </a:solidFill>
              </a:rPr>
              <a:t>Revenus</a:t>
            </a:r>
            <a:r>
              <a:rPr lang="en-US" sz="1800" dirty="0">
                <a:solidFill>
                  <a:srgbClr val="111827"/>
                </a:solidFill>
              </a:rPr>
              <a:t> </a:t>
            </a:r>
            <a:r>
              <a:rPr lang="en-US" sz="1800" dirty="0" err="1">
                <a:solidFill>
                  <a:srgbClr val="111827"/>
                </a:solidFill>
              </a:rPr>
              <a:t>proches</a:t>
            </a:r>
            <a:r>
              <a:rPr lang="en-US" sz="1800" dirty="0">
                <a:solidFill>
                  <a:srgbClr val="111827"/>
                </a:solidFill>
              </a:rPr>
              <a:t> d’un modèle d’abonnement</a:t>
            </a:r>
            <a:endParaRPr lang="en-US" sz="1800" dirty="0"/>
          </a:p>
          <a:p>
            <a:pPr marL="0" indent="0">
              <a:buNone/>
            </a:pPr>
            <a:r>
              <a:rPr lang="en-US" sz="1800" dirty="0">
                <a:solidFill>
                  <a:srgbClr val="111827"/>
                </a:solidFill>
              </a:rPr>
              <a:t>• </a:t>
            </a:r>
            <a:r>
              <a:rPr lang="en-US" sz="1800" dirty="0" err="1">
                <a:solidFill>
                  <a:srgbClr val="111827"/>
                </a:solidFill>
              </a:rPr>
              <a:t>Revenus</a:t>
            </a:r>
            <a:r>
              <a:rPr lang="en-US" sz="1800" dirty="0">
                <a:solidFill>
                  <a:srgbClr val="111827"/>
                </a:solidFill>
              </a:rPr>
              <a:t> </a:t>
            </a:r>
            <a:r>
              <a:rPr lang="en-US" sz="1800" dirty="0" err="1">
                <a:solidFill>
                  <a:srgbClr val="111827"/>
                </a:solidFill>
              </a:rPr>
              <a:t>négatifs</a:t>
            </a:r>
            <a:r>
              <a:rPr lang="en-US" sz="1800" dirty="0">
                <a:solidFill>
                  <a:srgbClr val="111827"/>
                </a:solidFill>
              </a:rPr>
              <a:t>: annulations </a:t>
            </a:r>
            <a:r>
              <a:rPr lang="en-US" sz="1800" dirty="0" err="1">
                <a:solidFill>
                  <a:srgbClr val="111827"/>
                </a:solidFill>
              </a:rPr>
              <a:t>ou</a:t>
            </a:r>
            <a:r>
              <a:rPr lang="en-US" sz="1800" dirty="0">
                <a:solidFill>
                  <a:srgbClr val="111827"/>
                </a:solidFill>
              </a:rPr>
              <a:t> </a:t>
            </a:r>
            <a:r>
              <a:rPr lang="en-US" sz="1800" dirty="0" err="1">
                <a:solidFill>
                  <a:srgbClr val="111827"/>
                </a:solidFill>
              </a:rPr>
              <a:t>remboursements</a:t>
            </a:r>
            <a:endParaRPr lang="en-US" sz="1800" dirty="0"/>
          </a:p>
        </p:txBody>
      </p:sp>
      <p:sp>
        <p:nvSpPr>
          <p:cNvPr id="5" name="Text 3"/>
          <p:cNvSpPr/>
          <p:nvPr/>
        </p:nvSpPr>
        <p:spPr>
          <a:xfrm>
            <a:off x="8138160" y="2331720"/>
            <a:ext cx="2560320" cy="402336"/>
          </a:xfrm>
          <a:prstGeom prst="rect">
            <a:avLst/>
          </a:prstGeom>
          <a:noFill/>
          <a:ln/>
        </p:spPr>
        <p:txBody>
          <a:bodyPr wrap="square" lIns="0" tIns="0" rIns="0" bIns="0" rtlCol="0" anchor="ctr">
            <a:normAutofit/>
          </a:bodyPr>
          <a:lstStyle/>
          <a:p>
            <a:pPr marL="0" indent="0">
              <a:buNone/>
            </a:pPr>
            <a:r>
              <a:rPr lang="en-US" sz="2600" b="1" dirty="0">
                <a:solidFill>
                  <a:srgbClr val="00338D"/>
                </a:solidFill>
              </a:rPr>
              <a:t>58.8M</a:t>
            </a:r>
            <a:endParaRPr lang="en-US" sz="2600" dirty="0"/>
          </a:p>
        </p:txBody>
      </p:sp>
      <p:sp>
        <p:nvSpPr>
          <p:cNvPr id="6" name="Text 4"/>
          <p:cNvSpPr/>
          <p:nvPr/>
        </p:nvSpPr>
        <p:spPr>
          <a:xfrm>
            <a:off x="8138160" y="2752344"/>
            <a:ext cx="2560320" cy="310896"/>
          </a:xfrm>
          <a:prstGeom prst="rect">
            <a:avLst/>
          </a:prstGeom>
          <a:noFill/>
          <a:ln/>
        </p:spPr>
        <p:txBody>
          <a:bodyPr wrap="square" lIns="0" tIns="0" rIns="0" bIns="0" rtlCol="0" anchor="ctr">
            <a:normAutofit/>
          </a:bodyPr>
          <a:lstStyle/>
          <a:p>
            <a:pPr marL="0" indent="0">
              <a:buNone/>
            </a:pPr>
            <a:r>
              <a:rPr lang="en-US" sz="950" dirty="0">
                <a:solidFill>
                  <a:srgbClr val="6B7280"/>
                </a:solidFill>
              </a:rPr>
              <a:t>revenu analysé</a:t>
            </a:r>
            <a:endParaRPr lang="en-US" sz="950" dirty="0"/>
          </a:p>
        </p:txBody>
      </p:sp>
      <p:sp>
        <p:nvSpPr>
          <p:cNvPr id="7" name="Text 5"/>
          <p:cNvSpPr/>
          <p:nvPr/>
        </p:nvSpPr>
        <p:spPr>
          <a:xfrm>
            <a:off x="8138160" y="3429000"/>
            <a:ext cx="2560320" cy="402336"/>
          </a:xfrm>
          <a:prstGeom prst="rect">
            <a:avLst/>
          </a:prstGeom>
          <a:noFill/>
          <a:ln/>
        </p:spPr>
        <p:txBody>
          <a:bodyPr wrap="square" lIns="0" tIns="0" rIns="0" bIns="0" rtlCol="0" anchor="ctr">
            <a:normAutofit/>
          </a:bodyPr>
          <a:lstStyle/>
          <a:p>
            <a:pPr marL="0" indent="0">
              <a:buNone/>
            </a:pPr>
            <a:r>
              <a:rPr lang="en-US" sz="2600" b="1" dirty="0">
                <a:solidFill>
                  <a:srgbClr val="0091DA"/>
                </a:solidFill>
              </a:rPr>
              <a:t>3</a:t>
            </a:r>
            <a:endParaRPr lang="en-US" sz="2600" dirty="0"/>
          </a:p>
        </p:txBody>
      </p:sp>
      <p:sp>
        <p:nvSpPr>
          <p:cNvPr id="8" name="Text 6"/>
          <p:cNvSpPr/>
          <p:nvPr/>
        </p:nvSpPr>
        <p:spPr>
          <a:xfrm>
            <a:off x="8138160" y="3849624"/>
            <a:ext cx="2560320" cy="310896"/>
          </a:xfrm>
          <a:prstGeom prst="rect">
            <a:avLst/>
          </a:prstGeom>
          <a:noFill/>
          <a:ln/>
        </p:spPr>
        <p:txBody>
          <a:bodyPr wrap="square" lIns="0" tIns="0" rIns="0" bIns="0" rtlCol="0" anchor="ctr">
            <a:normAutofit/>
          </a:bodyPr>
          <a:lstStyle/>
          <a:p>
            <a:pPr marL="0" indent="0">
              <a:buNone/>
            </a:pPr>
            <a:r>
              <a:rPr lang="en-US" sz="950" dirty="0">
                <a:solidFill>
                  <a:srgbClr val="6B7280"/>
                </a:solidFill>
              </a:rPr>
              <a:t>produits</a:t>
            </a:r>
            <a:endParaRPr lang="en-US" sz="950" dirty="0"/>
          </a:p>
        </p:txBody>
      </p:sp>
      <p:sp>
        <p:nvSpPr>
          <p:cNvPr id="9" name="Text 7"/>
          <p:cNvSpPr/>
          <p:nvPr/>
        </p:nvSpPr>
        <p:spPr>
          <a:xfrm>
            <a:off x="8138160" y="4526280"/>
            <a:ext cx="2560320" cy="402336"/>
          </a:xfrm>
          <a:prstGeom prst="rect">
            <a:avLst/>
          </a:prstGeom>
          <a:noFill/>
          <a:ln/>
        </p:spPr>
        <p:txBody>
          <a:bodyPr wrap="square" lIns="0" tIns="0" rIns="0" bIns="0" rtlCol="0" anchor="ctr">
            <a:normAutofit/>
          </a:bodyPr>
          <a:lstStyle/>
          <a:p>
            <a:pPr marL="0" indent="0">
              <a:buNone/>
            </a:pPr>
            <a:r>
              <a:rPr lang="en-US" sz="2600" b="1" dirty="0">
                <a:solidFill>
                  <a:srgbClr val="00B050"/>
                </a:solidFill>
              </a:rPr>
              <a:t>48 mois</a:t>
            </a:r>
            <a:endParaRPr lang="en-US" sz="2600" dirty="0"/>
          </a:p>
        </p:txBody>
      </p:sp>
      <p:sp>
        <p:nvSpPr>
          <p:cNvPr id="10" name="Text 8"/>
          <p:cNvSpPr/>
          <p:nvPr/>
        </p:nvSpPr>
        <p:spPr>
          <a:xfrm>
            <a:off x="8138160" y="4946904"/>
            <a:ext cx="2560320" cy="310896"/>
          </a:xfrm>
          <a:prstGeom prst="rect">
            <a:avLst/>
          </a:prstGeom>
          <a:noFill/>
          <a:ln/>
        </p:spPr>
        <p:txBody>
          <a:bodyPr wrap="square" lIns="0" tIns="0" rIns="0" bIns="0" rtlCol="0" anchor="ctr">
            <a:normAutofit/>
          </a:bodyPr>
          <a:lstStyle/>
          <a:p>
            <a:pPr marL="0" indent="0">
              <a:buNone/>
            </a:pPr>
            <a:r>
              <a:rPr lang="en-US" sz="950" dirty="0">
                <a:solidFill>
                  <a:srgbClr val="6B7280"/>
                </a:solidFill>
              </a:rPr>
              <a:t>suivi mensuel</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502920"/>
            <a:ext cx="10881360" cy="438912"/>
          </a:xfrm>
          <a:prstGeom prst="rect">
            <a:avLst/>
          </a:prstGeom>
          <a:noFill/>
          <a:ln/>
        </p:spPr>
        <p:txBody>
          <a:bodyPr wrap="square" lIns="0" tIns="0" rIns="0" bIns="0" rtlCol="0" anchor="ctr">
            <a:normAutofit/>
          </a:bodyPr>
          <a:lstStyle/>
          <a:p>
            <a:pPr marL="0" indent="0">
              <a:buNone/>
            </a:pPr>
            <a:r>
              <a:rPr lang="en-US" sz="2700" b="1" dirty="0">
                <a:solidFill>
                  <a:srgbClr val="111827"/>
                </a:solidFill>
              </a:rPr>
              <a:t>Démarche de travail</a:t>
            </a:r>
            <a:endParaRPr lang="en-US" sz="2700" dirty="0"/>
          </a:p>
        </p:txBody>
      </p:sp>
      <p:sp>
        <p:nvSpPr>
          <p:cNvPr id="4" name="Text 2"/>
          <p:cNvSpPr/>
          <p:nvPr/>
        </p:nvSpPr>
        <p:spPr>
          <a:xfrm>
            <a:off x="960120" y="1417320"/>
            <a:ext cx="5120640" cy="4206240"/>
          </a:xfrm>
          <a:prstGeom prst="rect">
            <a:avLst/>
          </a:prstGeom>
          <a:noFill/>
          <a:ln/>
        </p:spPr>
        <p:txBody>
          <a:bodyPr wrap="square" lIns="508" tIns="508" rIns="508" bIns="508" rtlCol="0" anchor="ctr">
            <a:normAutofit/>
          </a:bodyPr>
          <a:lstStyle/>
          <a:p>
            <a:pPr marL="0" indent="0">
              <a:buNone/>
            </a:pPr>
            <a:r>
              <a:rPr lang="en-US" sz="2000" dirty="0">
                <a:solidFill>
                  <a:srgbClr val="111827"/>
                </a:solidFill>
              </a:rPr>
              <a:t>• 1. Exploration du fichier Excel brut</a:t>
            </a:r>
            <a:endParaRPr lang="en-US" sz="2000" dirty="0"/>
          </a:p>
          <a:p>
            <a:pPr marL="0" indent="0">
              <a:buNone/>
            </a:pPr>
            <a:r>
              <a:rPr lang="en-US" sz="2000" dirty="0">
                <a:solidFill>
                  <a:srgbClr val="111827"/>
                </a:solidFill>
              </a:rPr>
              <a:t>• 2. Verifications de base avec Python</a:t>
            </a:r>
            <a:endParaRPr lang="en-US" sz="2000" dirty="0"/>
          </a:p>
          <a:p>
            <a:pPr marL="0" indent="0">
              <a:buNone/>
            </a:pPr>
            <a:r>
              <a:rPr lang="en-US" sz="2000" dirty="0">
                <a:solidFill>
                  <a:srgbClr val="111827"/>
                </a:solidFill>
              </a:rPr>
              <a:t>• 3. Nettoyage du dataset</a:t>
            </a:r>
            <a:endParaRPr lang="en-US" sz="2000" dirty="0"/>
          </a:p>
          <a:p>
            <a:pPr marL="0" indent="0">
              <a:buNone/>
            </a:pPr>
            <a:r>
              <a:rPr lang="en-US" sz="2000" dirty="0">
                <a:solidFill>
                  <a:srgbClr val="111827"/>
                </a:solidFill>
              </a:rPr>
              <a:t>• 4. EDA simple avec Python</a:t>
            </a:r>
            <a:endParaRPr lang="en-US" sz="2000" dirty="0"/>
          </a:p>
          <a:p>
            <a:pPr marL="0" indent="0">
              <a:buNone/>
            </a:pPr>
            <a:r>
              <a:rPr lang="en-US" sz="2000" dirty="0">
                <a:solidFill>
                  <a:srgbClr val="111827"/>
                </a:solidFill>
              </a:rPr>
              <a:t>• 5. Dashboard Power BI</a:t>
            </a:r>
            <a:endParaRPr lang="en-US" sz="2000" dirty="0"/>
          </a:p>
          <a:p>
            <a:pPr marL="0" indent="0">
              <a:buNone/>
            </a:pPr>
            <a:r>
              <a:rPr lang="en-US" sz="2000" dirty="0">
                <a:solidFill>
                  <a:srgbClr val="111827"/>
                </a:solidFill>
              </a:rPr>
              <a:t>• 6. Synthèse PowerPoint</a:t>
            </a:r>
            <a:endParaRPr lang="en-US" sz="2000" dirty="0"/>
          </a:p>
        </p:txBody>
      </p:sp>
      <p:sp>
        <p:nvSpPr>
          <p:cNvPr id="5" name="Text 3"/>
          <p:cNvSpPr/>
          <p:nvPr/>
        </p:nvSpPr>
        <p:spPr>
          <a:xfrm>
            <a:off x="6720840" y="1600200"/>
            <a:ext cx="3840480" cy="320040"/>
          </a:xfrm>
          <a:prstGeom prst="rect">
            <a:avLst/>
          </a:prstGeom>
          <a:noFill/>
          <a:ln/>
        </p:spPr>
        <p:txBody>
          <a:bodyPr wrap="square" lIns="0" tIns="0" rIns="0" bIns="0" rtlCol="0" anchor="ctr"/>
          <a:lstStyle/>
          <a:p>
            <a:pPr marL="0" indent="0">
              <a:buNone/>
            </a:pPr>
            <a:r>
              <a:rPr lang="en-US" sz="1700" b="1" dirty="0">
                <a:solidFill>
                  <a:srgbClr val="00338D"/>
                </a:solidFill>
              </a:rPr>
              <a:t>Objectif</a:t>
            </a:r>
            <a:endParaRPr lang="en-US" sz="1700" dirty="0"/>
          </a:p>
        </p:txBody>
      </p:sp>
      <p:sp>
        <p:nvSpPr>
          <p:cNvPr id="6" name="Text 4"/>
          <p:cNvSpPr/>
          <p:nvPr/>
        </p:nvSpPr>
        <p:spPr>
          <a:xfrm>
            <a:off x="6720840" y="2075688"/>
            <a:ext cx="4206240" cy="731520"/>
          </a:xfrm>
          <a:prstGeom prst="rect">
            <a:avLst/>
          </a:prstGeom>
          <a:noFill/>
          <a:ln/>
        </p:spPr>
        <p:txBody>
          <a:bodyPr wrap="square" lIns="254" tIns="254" rIns="254" bIns="254" rtlCol="0" anchor="ctr">
            <a:normAutofit/>
          </a:bodyPr>
          <a:lstStyle/>
          <a:p>
            <a:pPr marL="0" indent="0">
              <a:buNone/>
            </a:pPr>
            <a:r>
              <a:rPr lang="en-US" sz="2100" b="1" dirty="0">
                <a:solidFill>
                  <a:srgbClr val="111827"/>
                </a:solidFill>
              </a:rPr>
              <a:t>Transformer </a:t>
            </a:r>
            <a:r>
              <a:rPr lang="en-US" sz="2100" b="1" dirty="0" err="1">
                <a:solidFill>
                  <a:srgbClr val="111827"/>
                </a:solidFill>
              </a:rPr>
              <a:t>une</a:t>
            </a:r>
            <a:r>
              <a:rPr lang="en-US" sz="2100" b="1" dirty="0">
                <a:solidFill>
                  <a:srgbClr val="111827"/>
                </a:solidFill>
              </a:rPr>
              <a:t> base de donnée brute en histoire business</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502920"/>
            <a:ext cx="10881360" cy="438912"/>
          </a:xfrm>
          <a:prstGeom prst="rect">
            <a:avLst/>
          </a:prstGeom>
          <a:noFill/>
          <a:ln/>
        </p:spPr>
        <p:txBody>
          <a:bodyPr wrap="square" lIns="0" tIns="0" rIns="0" bIns="0" rtlCol="0" anchor="ctr">
            <a:normAutofit/>
          </a:bodyPr>
          <a:lstStyle/>
          <a:p>
            <a:pPr marL="0" indent="0">
              <a:buNone/>
            </a:pPr>
            <a:r>
              <a:rPr lang="en-US" sz="2700" b="1" dirty="0">
                <a:solidFill>
                  <a:srgbClr val="111827"/>
                </a:solidFill>
              </a:rPr>
              <a:t>Ce que les verifications ont corrigé</a:t>
            </a:r>
            <a:endParaRPr lang="en-US" sz="2700" dirty="0"/>
          </a:p>
        </p:txBody>
      </p:sp>
      <p:sp>
        <p:nvSpPr>
          <p:cNvPr id="5" name="Text 3"/>
          <p:cNvSpPr/>
          <p:nvPr/>
        </p:nvSpPr>
        <p:spPr>
          <a:xfrm>
            <a:off x="822960" y="1828800"/>
            <a:ext cx="7132320" cy="3200400"/>
          </a:xfrm>
          <a:prstGeom prst="rect">
            <a:avLst/>
          </a:prstGeom>
          <a:noFill/>
          <a:ln/>
        </p:spPr>
        <p:txBody>
          <a:bodyPr wrap="square" lIns="508" tIns="508" rIns="508" bIns="508" rtlCol="0" anchor="ctr">
            <a:normAutofit/>
          </a:bodyPr>
          <a:lstStyle/>
          <a:p>
            <a:pPr marL="0" indent="0">
              <a:buNone/>
            </a:pPr>
            <a:r>
              <a:rPr lang="en-US" sz="1700" dirty="0">
                <a:solidFill>
                  <a:srgbClr val="111827"/>
                </a:solidFill>
              </a:rPr>
              <a:t>• Valeurs vides de revenu annuel → remplacées par 0</a:t>
            </a:r>
            <a:endParaRPr lang="en-US" sz="1700" dirty="0"/>
          </a:p>
          <a:p>
            <a:pPr marL="0" indent="0">
              <a:buNone/>
            </a:pPr>
            <a:r>
              <a:rPr lang="en-US" sz="1700" dirty="0">
                <a:solidFill>
                  <a:srgbClr val="111827"/>
                </a:solidFill>
              </a:rPr>
              <a:t>• Doublon client 010115 → ligne à 0 supprimée</a:t>
            </a:r>
            <a:endParaRPr lang="en-US" sz="1700" dirty="0"/>
          </a:p>
          <a:p>
            <a:pPr marL="0" indent="0">
              <a:buNone/>
            </a:pPr>
            <a:r>
              <a:rPr lang="en-US" sz="1700" dirty="0">
                <a:solidFill>
                  <a:srgbClr val="111827"/>
                </a:solidFill>
              </a:rPr>
              <a:t>• IDs courts → zéros ajoutés devant pour atteindre 6 chiffres</a:t>
            </a:r>
            <a:endParaRPr lang="en-US" sz="1700" dirty="0"/>
          </a:p>
          <a:p>
            <a:pPr marL="0" indent="0">
              <a:buNone/>
            </a:pPr>
            <a:r>
              <a:rPr lang="en-US" sz="1700" dirty="0">
                <a:solidFill>
                  <a:srgbClr val="111827"/>
                </a:solidFill>
              </a:rPr>
              <a:t>• IDs avec lettres → conservés, car impossible de deviner leur vrai code</a:t>
            </a:r>
            <a:endParaRPr lang="en-US" sz="1700" dirty="0"/>
          </a:p>
          <a:p>
            <a:pPr marL="0" indent="0">
              <a:buNone/>
            </a:pPr>
            <a:r>
              <a:rPr lang="en-US" sz="1700" dirty="0">
                <a:solidFill>
                  <a:srgbClr val="111827"/>
                </a:solidFill>
              </a:rPr>
              <a:t>• Activités vides → “Activité inconnue”</a:t>
            </a:r>
            <a:endParaRPr lang="en-US" sz="1700" dirty="0"/>
          </a:p>
          <a:p>
            <a:r>
              <a:rPr lang="en-US" sz="1700" dirty="0">
                <a:solidFill>
                  <a:srgbClr val="111827"/>
                </a:solidFill>
              </a:rPr>
              <a:t>• Revenus négatifs réels → </a:t>
            </a:r>
            <a:r>
              <a:rPr lang="en-US" sz="1600" dirty="0" err="1">
                <a:solidFill>
                  <a:srgbClr val="111827"/>
                </a:solidFill>
              </a:rPr>
              <a:t>conservé</a:t>
            </a:r>
            <a:endParaRPr lang="en-US" sz="1700" dirty="0"/>
          </a:p>
        </p:txBody>
      </p:sp>
      <p:sp>
        <p:nvSpPr>
          <p:cNvPr id="6" name="Text 4"/>
          <p:cNvSpPr/>
          <p:nvPr/>
        </p:nvSpPr>
        <p:spPr>
          <a:xfrm>
            <a:off x="8321040" y="1874520"/>
            <a:ext cx="2743200" cy="320040"/>
          </a:xfrm>
          <a:prstGeom prst="rect">
            <a:avLst/>
          </a:prstGeom>
          <a:noFill/>
          <a:ln/>
        </p:spPr>
        <p:txBody>
          <a:bodyPr wrap="square" lIns="0" tIns="0" rIns="0" bIns="0" rtlCol="0" anchor="ctr"/>
          <a:lstStyle/>
          <a:p>
            <a:pPr marL="0" indent="0">
              <a:buNone/>
            </a:pPr>
            <a:r>
              <a:rPr lang="en-US" sz="1700" b="1" dirty="0" err="1">
                <a:solidFill>
                  <a:srgbClr val="00338D"/>
                </a:solidFill>
              </a:rPr>
              <a:t>Exemples</a:t>
            </a:r>
            <a:endParaRPr lang="en-US" sz="1700" dirty="0"/>
          </a:p>
        </p:txBody>
      </p:sp>
      <p:sp>
        <p:nvSpPr>
          <p:cNvPr id="7" name="Text 5"/>
          <p:cNvSpPr/>
          <p:nvPr/>
        </p:nvSpPr>
        <p:spPr>
          <a:xfrm>
            <a:off x="8321040" y="2423160"/>
            <a:ext cx="2926080" cy="1691640"/>
          </a:xfrm>
          <a:prstGeom prst="rect">
            <a:avLst/>
          </a:prstGeom>
          <a:noFill/>
          <a:ln/>
        </p:spPr>
        <p:txBody>
          <a:bodyPr wrap="square" lIns="508" tIns="508" rIns="508" bIns="508" rtlCol="0" anchor="ctr">
            <a:normAutofit/>
          </a:bodyPr>
          <a:lstStyle/>
          <a:p>
            <a:pPr marL="0" indent="0">
              <a:buNone/>
            </a:pPr>
            <a:r>
              <a:rPr lang="en-US" sz="1800" dirty="0">
                <a:solidFill>
                  <a:srgbClr val="111827"/>
                </a:solidFill>
              </a:rPr>
              <a:t>6064 → 006064</a:t>
            </a:r>
            <a:endParaRPr lang="en-US" sz="1800" dirty="0"/>
          </a:p>
          <a:p>
            <a:pPr marL="0" indent="0">
              <a:buNone/>
            </a:pPr>
            <a:r>
              <a:rPr lang="en-US" sz="1800" dirty="0">
                <a:solidFill>
                  <a:srgbClr val="111827"/>
                </a:solidFill>
              </a:rPr>
              <a:t>300 → 000300</a:t>
            </a:r>
            <a:endParaRPr lang="en-US" sz="1800" dirty="0"/>
          </a:p>
          <a:p>
            <a:pPr marL="0" indent="0">
              <a:buNone/>
            </a:pPr>
            <a:r>
              <a:rPr lang="en-US" sz="1800" dirty="0">
                <a:solidFill>
                  <a:srgbClr val="111827"/>
                </a:solidFill>
              </a:rPr>
              <a:t>CMATIGNON → conservé</a:t>
            </a:r>
            <a:endParaRPr lang="en-US" sz="1800" dirty="0"/>
          </a:p>
          <a:p>
            <a:r>
              <a:rPr lang="en-US" sz="1800" dirty="0">
                <a:solidFill>
                  <a:srgbClr val="111827"/>
                </a:solidFill>
              </a:rPr>
              <a:t>-116.64 → </a:t>
            </a:r>
            <a:r>
              <a:rPr lang="en-US" dirty="0" err="1">
                <a:solidFill>
                  <a:srgbClr val="111827"/>
                </a:solidFill>
              </a:rPr>
              <a:t>conservé</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502920"/>
            <a:ext cx="10881360" cy="438912"/>
          </a:xfrm>
          <a:prstGeom prst="rect">
            <a:avLst/>
          </a:prstGeom>
          <a:noFill/>
          <a:ln/>
        </p:spPr>
        <p:txBody>
          <a:bodyPr wrap="square" lIns="0" tIns="0" rIns="0" bIns="0" rtlCol="0" anchor="ctr">
            <a:normAutofit/>
          </a:bodyPr>
          <a:lstStyle/>
          <a:p>
            <a:pPr marL="0" indent="0">
              <a:buNone/>
            </a:pPr>
            <a:r>
              <a:rPr lang="en-US" sz="2700" b="1" dirty="0">
                <a:solidFill>
                  <a:srgbClr val="111827"/>
                </a:solidFill>
              </a:rPr>
              <a:t>Le revenu est stable, puis accélère en 2021</a:t>
            </a:r>
            <a:endParaRPr lang="en-US" sz="2700" dirty="0"/>
          </a:p>
        </p:txBody>
      </p:sp>
      <p:pic>
        <p:nvPicPr>
          <p:cNvPr id="4" name="Image 0" descr="/mnt/data/kpmg_ppt_charts/revenue_by_year.png"/>
          <p:cNvPicPr>
            <a:picLocks noChangeAspect="1"/>
          </p:cNvPicPr>
          <p:nvPr/>
        </p:nvPicPr>
        <p:blipFill>
          <a:blip r:embed="rId3"/>
          <a:stretch>
            <a:fillRect/>
          </a:stretch>
        </p:blipFill>
        <p:spPr>
          <a:xfrm>
            <a:off x="640080" y="1412054"/>
            <a:ext cx="6629400" cy="3805293"/>
          </a:xfrm>
          <a:prstGeom prst="rect">
            <a:avLst/>
          </a:prstGeom>
        </p:spPr>
      </p:pic>
      <p:sp>
        <p:nvSpPr>
          <p:cNvPr id="5" name="Text 2"/>
          <p:cNvSpPr/>
          <p:nvPr/>
        </p:nvSpPr>
        <p:spPr>
          <a:xfrm>
            <a:off x="7863840" y="1508760"/>
            <a:ext cx="2743200" cy="402336"/>
          </a:xfrm>
          <a:prstGeom prst="rect">
            <a:avLst/>
          </a:prstGeom>
          <a:noFill/>
          <a:ln/>
        </p:spPr>
        <p:txBody>
          <a:bodyPr wrap="square" lIns="0" tIns="0" rIns="0" bIns="0" rtlCol="0" anchor="ctr">
            <a:normAutofit/>
          </a:bodyPr>
          <a:lstStyle/>
          <a:p>
            <a:pPr marL="0" indent="0">
              <a:buNone/>
            </a:pPr>
            <a:r>
              <a:rPr lang="en-US" sz="2600" b="1" dirty="0">
                <a:solidFill>
                  <a:srgbClr val="6B7280"/>
                </a:solidFill>
              </a:rPr>
              <a:t>14.2M</a:t>
            </a:r>
            <a:endParaRPr lang="en-US" sz="2600" dirty="0"/>
          </a:p>
        </p:txBody>
      </p:sp>
      <p:sp>
        <p:nvSpPr>
          <p:cNvPr id="6" name="Text 3"/>
          <p:cNvSpPr/>
          <p:nvPr/>
        </p:nvSpPr>
        <p:spPr>
          <a:xfrm>
            <a:off x="7863840" y="1929384"/>
            <a:ext cx="2743200" cy="310896"/>
          </a:xfrm>
          <a:prstGeom prst="rect">
            <a:avLst/>
          </a:prstGeom>
          <a:noFill/>
          <a:ln/>
        </p:spPr>
        <p:txBody>
          <a:bodyPr wrap="square" lIns="0" tIns="0" rIns="0" bIns="0" rtlCol="0" anchor="ctr">
            <a:normAutofit/>
          </a:bodyPr>
          <a:lstStyle/>
          <a:p>
            <a:pPr marL="0" indent="0">
              <a:buNone/>
            </a:pPr>
            <a:r>
              <a:rPr lang="en-US" sz="950" dirty="0">
                <a:solidFill>
                  <a:srgbClr val="6B7280"/>
                </a:solidFill>
              </a:rPr>
              <a:t>revenu 2018</a:t>
            </a:r>
            <a:endParaRPr lang="en-US" sz="950" dirty="0"/>
          </a:p>
        </p:txBody>
      </p:sp>
      <p:sp>
        <p:nvSpPr>
          <p:cNvPr id="7" name="Text 4"/>
          <p:cNvSpPr/>
          <p:nvPr/>
        </p:nvSpPr>
        <p:spPr>
          <a:xfrm>
            <a:off x="7863840" y="2606040"/>
            <a:ext cx="2743200" cy="402336"/>
          </a:xfrm>
          <a:prstGeom prst="rect">
            <a:avLst/>
          </a:prstGeom>
          <a:noFill/>
          <a:ln/>
        </p:spPr>
        <p:txBody>
          <a:bodyPr wrap="square" lIns="0" tIns="0" rIns="0" bIns="0" rtlCol="0" anchor="ctr">
            <a:normAutofit/>
          </a:bodyPr>
          <a:lstStyle/>
          <a:p>
            <a:pPr marL="0" indent="0">
              <a:buNone/>
            </a:pPr>
            <a:r>
              <a:rPr lang="en-US" sz="2600" b="1" dirty="0">
                <a:solidFill>
                  <a:srgbClr val="0091DA"/>
                </a:solidFill>
              </a:rPr>
              <a:t>16.1M</a:t>
            </a:r>
            <a:endParaRPr lang="en-US" sz="2600" dirty="0"/>
          </a:p>
        </p:txBody>
      </p:sp>
      <p:sp>
        <p:nvSpPr>
          <p:cNvPr id="8" name="Text 5"/>
          <p:cNvSpPr/>
          <p:nvPr/>
        </p:nvSpPr>
        <p:spPr>
          <a:xfrm>
            <a:off x="7863840" y="3026664"/>
            <a:ext cx="2743200" cy="310896"/>
          </a:xfrm>
          <a:prstGeom prst="rect">
            <a:avLst/>
          </a:prstGeom>
          <a:noFill/>
          <a:ln/>
        </p:spPr>
        <p:txBody>
          <a:bodyPr wrap="square" lIns="0" tIns="0" rIns="0" bIns="0" rtlCol="0" anchor="ctr">
            <a:normAutofit/>
          </a:bodyPr>
          <a:lstStyle/>
          <a:p>
            <a:pPr marL="0" indent="0">
              <a:buNone/>
            </a:pPr>
            <a:r>
              <a:rPr lang="en-US" sz="950" dirty="0">
                <a:solidFill>
                  <a:srgbClr val="6B7280"/>
                </a:solidFill>
              </a:rPr>
              <a:t>revenu 2021</a:t>
            </a:r>
            <a:endParaRPr lang="en-US" sz="950" dirty="0"/>
          </a:p>
        </p:txBody>
      </p:sp>
      <p:sp>
        <p:nvSpPr>
          <p:cNvPr id="9" name="Text 6"/>
          <p:cNvSpPr/>
          <p:nvPr/>
        </p:nvSpPr>
        <p:spPr>
          <a:xfrm>
            <a:off x="7863840" y="3703320"/>
            <a:ext cx="2743200" cy="402336"/>
          </a:xfrm>
          <a:prstGeom prst="rect">
            <a:avLst/>
          </a:prstGeom>
          <a:noFill/>
          <a:ln/>
        </p:spPr>
        <p:txBody>
          <a:bodyPr wrap="square" lIns="0" tIns="0" rIns="0" bIns="0" rtlCol="0" anchor="ctr">
            <a:normAutofit/>
          </a:bodyPr>
          <a:lstStyle/>
          <a:p>
            <a:pPr marL="0" indent="0">
              <a:buNone/>
            </a:pPr>
            <a:r>
              <a:rPr lang="en-US" sz="2600" b="1" dirty="0">
                <a:solidFill>
                  <a:srgbClr val="00B050"/>
                </a:solidFill>
              </a:rPr>
              <a:t>+13.3%</a:t>
            </a:r>
            <a:endParaRPr lang="en-US" sz="2600" dirty="0"/>
          </a:p>
        </p:txBody>
      </p:sp>
      <p:sp>
        <p:nvSpPr>
          <p:cNvPr id="10" name="Text 7"/>
          <p:cNvSpPr/>
          <p:nvPr/>
        </p:nvSpPr>
        <p:spPr>
          <a:xfrm>
            <a:off x="7863840" y="4123944"/>
            <a:ext cx="2743200" cy="310896"/>
          </a:xfrm>
          <a:prstGeom prst="rect">
            <a:avLst/>
          </a:prstGeom>
          <a:noFill/>
          <a:ln/>
        </p:spPr>
        <p:txBody>
          <a:bodyPr wrap="square" lIns="0" tIns="0" rIns="0" bIns="0" rtlCol="0" anchor="ctr">
            <a:normAutofit/>
          </a:bodyPr>
          <a:lstStyle/>
          <a:p>
            <a:pPr marL="0" indent="0">
              <a:buNone/>
            </a:pPr>
            <a:r>
              <a:rPr lang="en-US" sz="950" dirty="0">
                <a:solidFill>
                  <a:srgbClr val="6B7280"/>
                </a:solidFill>
              </a:rPr>
              <a:t>croissance 2021</a:t>
            </a:r>
            <a:endParaRPr lang="en-US" sz="950" dirty="0"/>
          </a:p>
        </p:txBody>
      </p:sp>
      <p:sp>
        <p:nvSpPr>
          <p:cNvPr id="11" name="Text 8"/>
          <p:cNvSpPr/>
          <p:nvPr/>
        </p:nvSpPr>
        <p:spPr>
          <a:xfrm>
            <a:off x="7818120" y="4937760"/>
            <a:ext cx="3383280" cy="475488"/>
          </a:xfrm>
          <a:prstGeom prst="rect">
            <a:avLst/>
          </a:prstGeom>
          <a:noFill/>
          <a:ln/>
        </p:spPr>
        <p:txBody>
          <a:bodyPr wrap="square" lIns="254" tIns="254" rIns="254" bIns="254" rtlCol="0" anchor="ctr">
            <a:normAutofit lnSpcReduction="10000"/>
          </a:bodyPr>
          <a:lstStyle/>
          <a:p>
            <a:pPr marL="0" indent="0">
              <a:buNone/>
            </a:pPr>
            <a:r>
              <a:rPr lang="en-US" sz="1600" b="1" dirty="0">
                <a:solidFill>
                  <a:srgbClr val="00338D"/>
                </a:solidFill>
              </a:rPr>
              <a:t>Le business </a:t>
            </a:r>
            <a:r>
              <a:rPr lang="en-US" sz="1600" b="1" dirty="0" err="1">
                <a:solidFill>
                  <a:srgbClr val="00338D"/>
                </a:solidFill>
              </a:rPr>
              <a:t>stagne</a:t>
            </a:r>
            <a:r>
              <a:rPr lang="en-US" sz="1600" b="1" dirty="0">
                <a:solidFill>
                  <a:srgbClr val="00338D"/>
                </a:solidFill>
              </a:rPr>
              <a:t> bien et </a:t>
            </a:r>
            <a:r>
              <a:rPr lang="en-US" sz="1600" b="1" dirty="0" err="1">
                <a:solidFill>
                  <a:srgbClr val="00338D"/>
                </a:solidFill>
              </a:rPr>
              <a:t>fluctue</a:t>
            </a:r>
            <a:r>
              <a:rPr lang="en-US" sz="1600" b="1" dirty="0">
                <a:solidFill>
                  <a:srgbClr val="00338D"/>
                </a:solidFill>
              </a:rPr>
              <a:t> </a:t>
            </a:r>
            <a:r>
              <a:rPr lang="en-US" sz="1600" b="1" dirty="0" err="1">
                <a:solidFill>
                  <a:srgbClr val="00338D"/>
                </a:solidFill>
              </a:rPr>
              <a:t>en</a:t>
            </a:r>
            <a:r>
              <a:rPr lang="en-US" sz="1600" b="1" dirty="0">
                <a:solidFill>
                  <a:srgbClr val="00338D"/>
                </a:solidFill>
              </a:rPr>
              <a:t> 2021</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502920"/>
            <a:ext cx="10881360" cy="438912"/>
          </a:xfrm>
          <a:prstGeom prst="rect">
            <a:avLst/>
          </a:prstGeom>
          <a:noFill/>
          <a:ln/>
        </p:spPr>
        <p:txBody>
          <a:bodyPr wrap="square" lIns="0" tIns="0" rIns="0" bIns="0" rtlCol="0" anchor="ctr">
            <a:normAutofit/>
          </a:bodyPr>
          <a:lstStyle/>
          <a:p>
            <a:pPr marL="0" indent="0">
              <a:buNone/>
            </a:pPr>
            <a:r>
              <a:rPr lang="en-US" sz="2700" b="1" dirty="0">
                <a:solidFill>
                  <a:srgbClr val="111827"/>
                </a:solidFill>
              </a:rPr>
              <a:t>P1 est le pilier, P3 est le signal de croissance</a:t>
            </a:r>
            <a:endParaRPr lang="en-US" sz="2700" dirty="0"/>
          </a:p>
        </p:txBody>
      </p:sp>
      <p:pic>
        <p:nvPicPr>
          <p:cNvPr id="4" name="Image 0" descr="/mnt/data/kpmg_ppt_charts/product_total.png"/>
          <p:cNvPicPr>
            <a:picLocks noChangeAspect="1"/>
          </p:cNvPicPr>
          <p:nvPr/>
        </p:nvPicPr>
        <p:blipFill>
          <a:blip r:embed="rId3"/>
          <a:stretch>
            <a:fillRect/>
          </a:stretch>
        </p:blipFill>
        <p:spPr>
          <a:xfrm>
            <a:off x="685800" y="1769104"/>
            <a:ext cx="4892040" cy="2862591"/>
          </a:xfrm>
          <a:prstGeom prst="rect">
            <a:avLst/>
          </a:prstGeom>
        </p:spPr>
      </p:pic>
      <p:pic>
        <p:nvPicPr>
          <p:cNvPr id="5" name="Image 1" descr="/mnt/data/kpmg_ppt_charts/p3_share.png"/>
          <p:cNvPicPr>
            <a:picLocks noChangeAspect="1"/>
          </p:cNvPicPr>
          <p:nvPr/>
        </p:nvPicPr>
        <p:blipFill>
          <a:blip r:embed="rId4"/>
          <a:stretch>
            <a:fillRect/>
          </a:stretch>
        </p:blipFill>
        <p:spPr>
          <a:xfrm>
            <a:off x="6126480" y="1665763"/>
            <a:ext cx="5257800" cy="3069274"/>
          </a:xfrm>
          <a:prstGeom prst="rect">
            <a:avLst/>
          </a:prstGeom>
        </p:spPr>
      </p:pic>
      <p:sp>
        <p:nvSpPr>
          <p:cNvPr id="6" name="Text 2"/>
          <p:cNvSpPr/>
          <p:nvPr/>
        </p:nvSpPr>
        <p:spPr>
          <a:xfrm>
            <a:off x="868680" y="5532120"/>
            <a:ext cx="3931920" cy="320040"/>
          </a:xfrm>
          <a:prstGeom prst="rect">
            <a:avLst/>
          </a:prstGeom>
          <a:noFill/>
          <a:ln/>
        </p:spPr>
        <p:txBody>
          <a:bodyPr wrap="square" lIns="254" tIns="254" rIns="254" bIns="254" rtlCol="0" anchor="ctr">
            <a:normAutofit/>
          </a:bodyPr>
          <a:lstStyle/>
          <a:p>
            <a:pPr marL="0" indent="0">
              <a:buNone/>
            </a:pPr>
            <a:r>
              <a:rPr lang="en-US" sz="1600" b="1" dirty="0">
                <a:solidFill>
                  <a:srgbClr val="00338D"/>
                </a:solidFill>
              </a:rPr>
              <a:t>P1 = 57% du revenu</a:t>
            </a:r>
            <a:endParaRPr lang="en-US" sz="1600" dirty="0"/>
          </a:p>
        </p:txBody>
      </p:sp>
      <p:sp>
        <p:nvSpPr>
          <p:cNvPr id="7" name="Text 3"/>
          <p:cNvSpPr/>
          <p:nvPr/>
        </p:nvSpPr>
        <p:spPr>
          <a:xfrm>
            <a:off x="6263640" y="5532120"/>
            <a:ext cx="4297680" cy="320040"/>
          </a:xfrm>
          <a:prstGeom prst="rect">
            <a:avLst/>
          </a:prstGeom>
          <a:noFill/>
          <a:ln/>
        </p:spPr>
        <p:txBody>
          <a:bodyPr wrap="square" lIns="254" tIns="254" rIns="254" bIns="254" rtlCol="0" anchor="ctr">
            <a:normAutofit/>
          </a:bodyPr>
          <a:lstStyle/>
          <a:p>
            <a:pPr marL="0" indent="0">
              <a:buNone/>
            </a:pPr>
            <a:r>
              <a:rPr lang="en-US" sz="1600" b="1" dirty="0">
                <a:solidFill>
                  <a:srgbClr val="00B050"/>
                </a:solidFill>
              </a:rPr>
              <a:t>P3 : 1.9% → 18.3%</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502920"/>
            <a:ext cx="10881360" cy="438912"/>
          </a:xfrm>
          <a:prstGeom prst="rect">
            <a:avLst/>
          </a:prstGeom>
          <a:noFill/>
          <a:ln/>
        </p:spPr>
        <p:txBody>
          <a:bodyPr wrap="square" lIns="0" tIns="0" rIns="0" bIns="0" rtlCol="0" anchor="ctr">
            <a:normAutofit/>
          </a:bodyPr>
          <a:lstStyle/>
          <a:p>
            <a:pPr marL="0" indent="0">
              <a:buNone/>
            </a:pPr>
            <a:r>
              <a:rPr lang="en-US" sz="2700" b="1" dirty="0">
                <a:solidFill>
                  <a:srgbClr val="111827"/>
                </a:solidFill>
              </a:rPr>
              <a:t>Activité 1 </a:t>
            </a:r>
            <a:r>
              <a:rPr lang="en-US" sz="2700" b="1" dirty="0" err="1">
                <a:solidFill>
                  <a:srgbClr val="111827"/>
                </a:solidFill>
              </a:rPr>
              <a:t>apporte</a:t>
            </a:r>
            <a:r>
              <a:rPr lang="en-US" sz="2700" b="1" dirty="0">
                <a:solidFill>
                  <a:srgbClr val="111827"/>
                </a:solidFill>
              </a:rPr>
              <a:t> la </a:t>
            </a:r>
            <a:r>
              <a:rPr lang="en-US" sz="2700" b="1" dirty="0" err="1">
                <a:solidFill>
                  <a:srgbClr val="111827"/>
                </a:solidFill>
              </a:rPr>
              <a:t>quantite</a:t>
            </a:r>
            <a:r>
              <a:rPr lang="en-US" sz="2700" b="1" dirty="0">
                <a:solidFill>
                  <a:srgbClr val="111827"/>
                </a:solidFill>
              </a:rPr>
              <a:t> , Activité 2 apporte la </a:t>
            </a:r>
            <a:r>
              <a:rPr lang="en-US" sz="2700" b="1" dirty="0" err="1">
                <a:solidFill>
                  <a:srgbClr val="111827"/>
                </a:solidFill>
              </a:rPr>
              <a:t>qualite</a:t>
            </a:r>
            <a:endParaRPr lang="en-US" sz="2700" dirty="0"/>
          </a:p>
        </p:txBody>
      </p:sp>
      <p:pic>
        <p:nvPicPr>
          <p:cNvPr id="4" name="Image 0" descr="/mnt/data/kpmg_ppt_charts/activity_revenue.png"/>
          <p:cNvPicPr>
            <a:picLocks noChangeAspect="1"/>
          </p:cNvPicPr>
          <p:nvPr/>
        </p:nvPicPr>
        <p:blipFill>
          <a:blip r:embed="rId3"/>
          <a:stretch>
            <a:fillRect/>
          </a:stretch>
        </p:blipFill>
        <p:spPr>
          <a:xfrm>
            <a:off x="685800" y="1744610"/>
            <a:ext cx="5074920" cy="2957301"/>
          </a:xfrm>
          <a:prstGeom prst="rect">
            <a:avLst/>
          </a:prstGeom>
        </p:spPr>
      </p:pic>
      <p:pic>
        <p:nvPicPr>
          <p:cNvPr id="5" name="Image 1" descr="/mnt/data/kpmg_ppt_charts/activity_revenue_per_client.png"/>
          <p:cNvPicPr>
            <a:picLocks noChangeAspect="1"/>
          </p:cNvPicPr>
          <p:nvPr/>
        </p:nvPicPr>
        <p:blipFill>
          <a:blip r:embed="rId4"/>
          <a:stretch>
            <a:fillRect/>
          </a:stretch>
        </p:blipFill>
        <p:spPr>
          <a:xfrm>
            <a:off x="6263640" y="1742768"/>
            <a:ext cx="5074920" cy="2960984"/>
          </a:xfrm>
          <a:prstGeom prst="rect">
            <a:avLst/>
          </a:prstGeom>
        </p:spPr>
      </p:pic>
      <p:sp>
        <p:nvSpPr>
          <p:cNvPr id="6" name="Text 2"/>
          <p:cNvSpPr/>
          <p:nvPr/>
        </p:nvSpPr>
        <p:spPr>
          <a:xfrm>
            <a:off x="822960" y="5532120"/>
            <a:ext cx="4023360" cy="320040"/>
          </a:xfrm>
          <a:prstGeom prst="rect">
            <a:avLst/>
          </a:prstGeom>
          <a:noFill/>
          <a:ln/>
        </p:spPr>
        <p:txBody>
          <a:bodyPr wrap="square" lIns="254" tIns="254" rIns="254" bIns="254" rtlCol="0" anchor="ctr">
            <a:normAutofit/>
          </a:bodyPr>
          <a:lstStyle/>
          <a:p>
            <a:pPr marL="0" indent="0">
              <a:buNone/>
            </a:pPr>
            <a:r>
              <a:rPr lang="en-US" sz="1600" b="1" dirty="0">
                <a:solidFill>
                  <a:srgbClr val="00338D"/>
                </a:solidFill>
              </a:rPr>
              <a:t>Activité 1 : 3 290 clients</a:t>
            </a:r>
            <a:endParaRPr lang="en-US" sz="1600" dirty="0"/>
          </a:p>
        </p:txBody>
      </p:sp>
      <p:sp>
        <p:nvSpPr>
          <p:cNvPr id="7" name="Text 3"/>
          <p:cNvSpPr/>
          <p:nvPr/>
        </p:nvSpPr>
        <p:spPr>
          <a:xfrm>
            <a:off x="6355080" y="5532120"/>
            <a:ext cx="4389120" cy="320040"/>
          </a:xfrm>
          <a:prstGeom prst="rect">
            <a:avLst/>
          </a:prstGeom>
          <a:noFill/>
          <a:ln/>
        </p:spPr>
        <p:txBody>
          <a:bodyPr wrap="square" lIns="254" tIns="254" rIns="254" bIns="254" rtlCol="0" anchor="ctr">
            <a:normAutofit/>
          </a:bodyPr>
          <a:lstStyle/>
          <a:p>
            <a:pPr marL="0" indent="0">
              <a:buNone/>
            </a:pPr>
            <a:r>
              <a:rPr lang="en-US" sz="1600" b="1" dirty="0">
                <a:solidFill>
                  <a:srgbClr val="0091DA"/>
                </a:solidFill>
              </a:rPr>
              <a:t>Activité 2 : 475K par client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60" y="502920"/>
            <a:ext cx="10881360" cy="438912"/>
          </a:xfrm>
          <a:prstGeom prst="rect">
            <a:avLst/>
          </a:prstGeom>
          <a:noFill/>
          <a:ln/>
        </p:spPr>
        <p:txBody>
          <a:bodyPr wrap="square" lIns="0" tIns="0" rIns="0" bIns="0" rtlCol="0" anchor="ctr">
            <a:normAutofit/>
          </a:bodyPr>
          <a:lstStyle/>
          <a:p>
            <a:pPr marL="0" indent="0">
              <a:buNone/>
            </a:pPr>
            <a:r>
              <a:rPr lang="en-US" sz="2700" b="1" dirty="0">
                <a:solidFill>
                  <a:srgbClr val="111827"/>
                </a:solidFill>
              </a:rPr>
              <a:t>La base est récurrente, mais dépend de gros clients</a:t>
            </a:r>
            <a:endParaRPr lang="en-US" sz="2700" dirty="0"/>
          </a:p>
        </p:txBody>
      </p:sp>
      <p:pic>
        <p:nvPicPr>
          <p:cNvPr id="4" name="Image 0" descr="/mnt/data/kpmg_ppt_charts/client_concentration.png"/>
          <p:cNvPicPr>
            <a:picLocks noChangeAspect="1"/>
          </p:cNvPicPr>
          <p:nvPr/>
        </p:nvPicPr>
        <p:blipFill>
          <a:blip r:embed="rId3"/>
          <a:stretch>
            <a:fillRect/>
          </a:stretch>
        </p:blipFill>
        <p:spPr>
          <a:xfrm>
            <a:off x="685800" y="1830857"/>
            <a:ext cx="5074920" cy="2784806"/>
          </a:xfrm>
          <a:prstGeom prst="rect">
            <a:avLst/>
          </a:prstGeom>
        </p:spPr>
      </p:pic>
      <p:pic>
        <p:nvPicPr>
          <p:cNvPr id="5" name="Image 1" descr="/mnt/data/kpmg_ppt_charts/client_loyalty.png"/>
          <p:cNvPicPr>
            <a:picLocks noChangeAspect="1"/>
          </p:cNvPicPr>
          <p:nvPr/>
        </p:nvPicPr>
        <p:blipFill>
          <a:blip r:embed="rId4"/>
          <a:stretch>
            <a:fillRect/>
          </a:stretch>
        </p:blipFill>
        <p:spPr>
          <a:xfrm>
            <a:off x="6263640" y="1742002"/>
            <a:ext cx="5074920" cy="2962517"/>
          </a:xfrm>
          <a:prstGeom prst="rect">
            <a:avLst/>
          </a:prstGeom>
        </p:spPr>
      </p:pic>
      <p:sp>
        <p:nvSpPr>
          <p:cNvPr id="6" name="Text 2"/>
          <p:cNvSpPr/>
          <p:nvPr/>
        </p:nvSpPr>
        <p:spPr>
          <a:xfrm>
            <a:off x="822960" y="5532120"/>
            <a:ext cx="4389120" cy="320040"/>
          </a:xfrm>
          <a:prstGeom prst="rect">
            <a:avLst/>
          </a:prstGeom>
          <a:noFill/>
          <a:ln/>
        </p:spPr>
        <p:txBody>
          <a:bodyPr wrap="square" lIns="254" tIns="254" rIns="254" bIns="254" rtlCol="0" anchor="ctr">
            <a:normAutofit/>
          </a:bodyPr>
          <a:lstStyle/>
          <a:p>
            <a:pPr marL="0" indent="0">
              <a:buNone/>
            </a:pPr>
            <a:r>
              <a:rPr lang="en-US" sz="1600" b="1" dirty="0">
                <a:solidFill>
                  <a:srgbClr val="D14343"/>
                </a:solidFill>
              </a:rPr>
              <a:t>Top 10 = 26.7% du revenu</a:t>
            </a:r>
            <a:endParaRPr lang="en-US" sz="1600" dirty="0"/>
          </a:p>
        </p:txBody>
      </p:sp>
      <p:sp>
        <p:nvSpPr>
          <p:cNvPr id="7" name="Text 3"/>
          <p:cNvSpPr/>
          <p:nvPr/>
        </p:nvSpPr>
        <p:spPr>
          <a:xfrm>
            <a:off x="6355080" y="5532120"/>
            <a:ext cx="4754880" cy="320040"/>
          </a:xfrm>
          <a:prstGeom prst="rect">
            <a:avLst/>
          </a:prstGeom>
          <a:noFill/>
          <a:ln/>
        </p:spPr>
        <p:txBody>
          <a:bodyPr wrap="square" lIns="254" tIns="254" rIns="254" bIns="254" rtlCol="0" anchor="ctr">
            <a:normAutofit/>
          </a:bodyPr>
          <a:lstStyle/>
          <a:p>
            <a:pPr marL="0" indent="0">
              <a:buNone/>
            </a:pPr>
            <a:r>
              <a:rPr lang="en-US" sz="1600" b="1" dirty="0">
                <a:solidFill>
                  <a:srgbClr val="00B050"/>
                </a:solidFill>
              </a:rPr>
              <a:t>1 503 clients actifs 48 mois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94359" y="502920"/>
            <a:ext cx="11890487" cy="1116704"/>
          </a:xfrm>
          <a:prstGeom prst="rect">
            <a:avLst/>
          </a:prstGeom>
          <a:noFill/>
          <a:ln/>
        </p:spPr>
        <p:txBody>
          <a:bodyPr wrap="square" lIns="0" tIns="0" rIns="0" bIns="0" rtlCol="0" anchor="ctr">
            <a:normAutofit fontScale="92500" lnSpcReduction="10000"/>
          </a:bodyPr>
          <a:lstStyle/>
          <a:p>
            <a:pPr marL="0" indent="0">
              <a:buNone/>
            </a:pPr>
            <a:r>
              <a:rPr lang="en-US" sz="2700" b="1" dirty="0">
                <a:solidFill>
                  <a:srgbClr val="111827"/>
                </a:solidFill>
              </a:rPr>
              <a:t>Conclusion </a:t>
            </a:r>
          </a:p>
          <a:p>
            <a:pPr marL="0" indent="0">
              <a:buNone/>
            </a:pPr>
            <a:endParaRPr lang="en-US" sz="2700" b="1" dirty="0">
              <a:solidFill>
                <a:srgbClr val="111827"/>
              </a:solidFill>
            </a:endParaRPr>
          </a:p>
          <a:p>
            <a:pPr marL="0" indent="0">
              <a:buNone/>
            </a:pPr>
            <a:r>
              <a:rPr lang="en-US" sz="2700" b="1" dirty="0">
                <a:solidFill>
                  <a:srgbClr val="111827"/>
                </a:solidFill>
              </a:rPr>
              <a:t>base solide, mais quelques points à sécuriser</a:t>
            </a:r>
            <a:endParaRPr lang="en-US" sz="2700" dirty="0"/>
          </a:p>
        </p:txBody>
      </p:sp>
      <p:sp>
        <p:nvSpPr>
          <p:cNvPr id="4" name="Text 2"/>
          <p:cNvSpPr/>
          <p:nvPr/>
        </p:nvSpPr>
        <p:spPr>
          <a:xfrm>
            <a:off x="868680" y="1325879"/>
            <a:ext cx="8837108" cy="3736191"/>
          </a:xfrm>
          <a:prstGeom prst="rect">
            <a:avLst/>
          </a:prstGeom>
          <a:noFill/>
          <a:ln/>
        </p:spPr>
        <p:txBody>
          <a:bodyPr wrap="square" lIns="508" tIns="508" rIns="508" bIns="508" rtlCol="0" anchor="ctr">
            <a:normAutofit/>
          </a:bodyPr>
          <a:lstStyle/>
          <a:p>
            <a:pPr marL="285750" indent="-285750">
              <a:buFont typeface="Arial" panose="020B0604020202020204" pitchFamily="34" charset="0"/>
              <a:buChar char="•"/>
            </a:pPr>
            <a:r>
              <a:rPr lang="" dirty="0"/>
              <a:t>Fidéliser les clients récurrents avec des offres ou remises. </a:t>
            </a:r>
          </a:p>
          <a:p>
            <a:pPr marL="285750" indent="-285750">
              <a:buFont typeface="Arial" panose="020B0604020202020204" pitchFamily="34" charset="0"/>
              <a:buChar char="•"/>
            </a:pPr>
            <a:r>
              <a:rPr lang="" dirty="0"/>
              <a:t>Renforcer P1, car c’est le produit principal. </a:t>
            </a:r>
          </a:p>
          <a:p>
            <a:pPr marL="285750" indent="-285750">
              <a:buFont typeface="Arial" panose="020B0604020202020204" pitchFamily="34" charset="0"/>
              <a:buChar char="•"/>
            </a:pPr>
            <a:r>
              <a:rPr lang="" dirty="0"/>
              <a:t>Développer P3, car il montre une forte croissance. </a:t>
            </a:r>
          </a:p>
          <a:p>
            <a:pPr marL="285750" indent="-285750">
              <a:buFont typeface="Arial" panose="020B0604020202020204" pitchFamily="34" charset="0"/>
              <a:buChar char="•"/>
            </a:pPr>
            <a:r>
              <a:rPr lang="" dirty="0"/>
              <a:t>Cibler davantage l’Activité 2, car elle génère plus de revenu par client. </a:t>
            </a:r>
          </a:p>
          <a:p>
            <a:pPr marL="285750" indent="-285750">
              <a:buFont typeface="Arial" panose="020B0604020202020204" pitchFamily="34" charset="0"/>
              <a:buChar char="•"/>
            </a:pPr>
            <a:r>
              <a:rPr lang="" dirty="0"/>
              <a:t>Investiguer les revenus négatifs pour comprendre les refunds ou annulations. </a:t>
            </a:r>
          </a:p>
          <a:p>
            <a:pPr marL="285750" indent="-285750">
              <a:buFont typeface="Arial" panose="020B0604020202020204" pitchFamily="34" charset="0"/>
              <a:buChar char="•"/>
            </a:pPr>
            <a:r>
              <a:rPr lang="" dirty="0"/>
              <a:t>Clarifier les points flous : IDs texte, définition des activités et devise des revenus.</a:t>
            </a:r>
            <a:endParaRPr lang="en-US" sz="1800" dirty="0"/>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30</TotalTime>
  <Words>1149</Words>
  <Application>Microsoft Office PowerPoint</Application>
  <PresentationFormat>Widescreen</PresentationFormat>
  <Paragraphs>80</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Cas pratique - Analyse revenu software</dc:title>
  <dc:subject>Cas pratique Deal &amp; Analytics</dc:subject>
  <dc:creator>OpenAI</dc:creator>
  <cp:lastModifiedBy>Malaak Aoughlis [Student-PECS]</cp:lastModifiedBy>
  <cp:revision>2</cp:revision>
  <dcterms:created xsi:type="dcterms:W3CDTF">2026-07-08T21:20:17Z</dcterms:created>
  <dcterms:modified xsi:type="dcterms:W3CDTF">2026-07-08T21:55:28Z</dcterms:modified>
</cp:coreProperties>
</file>